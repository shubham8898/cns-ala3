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Inter"/>
      <p:bold r:id="rId11"/>
    </p:embeddedFont>
    <p:embeddedFont>
      <p:font typeface="Space Grotesk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71500"/>
            <a:ext cx="266700" cy="266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581025"/>
            <a:ext cx="87010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Space Grotesk"/>
              </a:rPr>
              <a:t>GMIU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53666"/>
            <a:ext cx="10715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90429"/>
                </a:solidFill>
                <a:latin typeface="Inter"/>
              </a:rPr>
              <a:t>ACADEMIC PROJECT – INFORMATION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334666"/>
            <a:ext cx="9101137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FFFFF"/>
                </a:solidFill>
                <a:latin typeface="Space Grotesk"/>
              </a:rPr>
              <a:t>Social Engineering Attacks &amp; Major Security Breaches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904208"/>
            <a:ext cx="11251406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A0A0A0"/>
                </a:solidFill>
                <a:latin typeface="Space Grotesk"/>
              </a:rPr>
              <a:t>The Hidden Threat Behind Cybercrime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4856708"/>
            <a:ext cx="14644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88888"/>
                </a:solidFill>
                <a:latin typeface="Inter"/>
              </a:rPr>
              <a:t>STUDENT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5056733"/>
            <a:ext cx="162820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Inter"/>
              </a:rPr>
              <a:t>Shubham Makwana </a:t>
            </a:r>
            <a:endParaRPr sz="1500" b="1" i="0" u="none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57475" y="4856708"/>
            <a:ext cx="97462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888888"/>
                </a:solidFill>
                <a:latin typeface="Inter"/>
              </a:rPr>
              <a:t>    </a:t>
            </a:r>
            <a:r>
              <a:rPr sz="1050" b="0" i="0" u="none" dirty="0">
                <a:solidFill>
                  <a:srgbClr val="888888"/>
                </a:solidFill>
                <a:latin typeface="Inter"/>
              </a:rPr>
              <a:t>ENROLLMENT</a:t>
            </a:r>
            <a:r>
              <a:rPr lang="en-US" sz="1050" b="0" i="0" u="none" dirty="0">
                <a:solidFill>
                  <a:srgbClr val="888888"/>
                </a:solidFill>
                <a:latin typeface="Inter"/>
              </a:rPr>
              <a:t>   </a:t>
            </a:r>
            <a:endParaRPr sz="1050" b="0" i="0" u="none" dirty="0">
              <a:solidFill>
                <a:srgbClr val="888888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57475" y="5056733"/>
            <a:ext cx="130324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Inter"/>
              </a:rPr>
              <a:t>   241105060079</a:t>
            </a:r>
            <a:endParaRPr sz="1500" b="1" i="0" u="none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7347C5-E8C9-08F1-1542-64E3C4577E10}"/>
              </a:ext>
            </a:extLst>
          </p:cNvPr>
          <p:cNvSpPr txBox="1"/>
          <p:nvPr/>
        </p:nvSpPr>
        <p:spPr>
          <a:xfrm>
            <a:off x="4842933" y="5842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0862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90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4672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8482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90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52292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609600"/>
            <a:ext cx="5200650" cy="5638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609600"/>
            <a:ext cx="5200650" cy="563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457325"/>
            <a:ext cx="55606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1A1A1A"/>
                </a:solidFill>
                <a:latin typeface="Space Grotesk"/>
              </a:rPr>
              <a:t>Understanding </a:t>
            </a:r>
            <a:r>
              <a:rPr sz="3000" b="1" i="0" u="none">
                <a:solidFill>
                  <a:srgbClr val="D90429"/>
                </a:solidFill>
                <a:latin typeface="Space Grotesk"/>
              </a:rPr>
              <a:t>Social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600325"/>
            <a:ext cx="52959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A4A4A"/>
                </a:solidFill>
                <a:latin typeface="Inter"/>
              </a:rPr>
              <a:t>Psychological manipulation for unauthorized digital access.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552825"/>
            <a:ext cx="682585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A1A1A"/>
                </a:solidFill>
                <a:latin typeface="Space Grotesk"/>
              </a:rPr>
              <a:t>CORE MANIPULATION VECTORS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029075"/>
            <a:ext cx="3309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A1A1A"/>
                </a:solidFill>
                <a:latin typeface="Inter"/>
              </a:rPr>
              <a:t>Fear:</a:t>
            </a:r>
            <a:r>
              <a:rPr sz="1500" b="0" i="0" u="none">
                <a:solidFill>
                  <a:srgbClr val="1A1A1A"/>
                </a:solidFill>
                <a:latin typeface="Inter"/>
              </a:rPr>
              <a:t> Urgent penalty threats.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410075"/>
            <a:ext cx="47029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A1A1A"/>
                </a:solidFill>
                <a:latin typeface="Inter"/>
              </a:rPr>
              <a:t>Trust:</a:t>
            </a:r>
            <a:r>
              <a:rPr sz="1500" b="0" i="0" u="none">
                <a:solidFill>
                  <a:srgbClr val="1A1A1A"/>
                </a:solidFill>
                <a:latin typeface="Inter"/>
              </a:rPr>
              <a:t> Impersonating executive authority.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791075"/>
            <a:ext cx="3500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A1A1A"/>
                </a:solidFill>
                <a:latin typeface="Inter"/>
              </a:rPr>
              <a:t>Greed:</a:t>
            </a:r>
            <a:r>
              <a:rPr sz="1500" b="0" i="0" u="none">
                <a:solidFill>
                  <a:srgbClr val="1A1A1A"/>
                </a:solidFill>
                <a:latin typeface="Inter"/>
              </a:rPr>
              <a:t> Fake financial rewards.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5172075"/>
            <a:ext cx="37385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A1A1A"/>
                </a:solidFill>
                <a:latin typeface="Inter"/>
              </a:rPr>
              <a:t>Urgency:</a:t>
            </a:r>
            <a:r>
              <a:rPr sz="1500" b="0" i="0" u="none">
                <a:solidFill>
                  <a:srgbClr val="1A1A1A"/>
                </a:solidFill>
                <a:latin typeface="Inter"/>
              </a:rPr>
              <a:t> False strict time limits.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23900" y="1826418"/>
            <a:ext cx="3429000" cy="1914525"/>
          </a:xfrm>
          <a:prstGeom prst="roundRect">
            <a:avLst>
              <a:gd name="adj" fmla="val 597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1500" y="1926431"/>
            <a:ext cx="3429000" cy="1714500"/>
          </a:xfrm>
          <a:prstGeom prst="roundRect">
            <a:avLst>
              <a:gd name="adj" fmla="val 6666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39100" y="1926431"/>
            <a:ext cx="3429000" cy="1714500"/>
          </a:xfrm>
          <a:prstGeom prst="roundRect">
            <a:avLst>
              <a:gd name="adj" fmla="val 6666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23900" y="4312443"/>
            <a:ext cx="3429000" cy="1714500"/>
          </a:xfrm>
          <a:prstGeom prst="roundRect">
            <a:avLst>
              <a:gd name="adj" fmla="val 6666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1500" y="4312443"/>
            <a:ext cx="3429000" cy="1714500"/>
          </a:xfrm>
          <a:prstGeom prst="roundRect">
            <a:avLst>
              <a:gd name="adj" fmla="val 6666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39100" y="4212431"/>
            <a:ext cx="3429000" cy="1914525"/>
          </a:xfrm>
          <a:prstGeom prst="roundRect">
            <a:avLst>
              <a:gd name="adj" fmla="val 597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3900" y="1826418"/>
            <a:ext cx="3429000" cy="38100"/>
          </a:xfrm>
          <a:prstGeom prst="rect">
            <a:avLst/>
          </a:prstGeom>
          <a:solidFill>
            <a:srgbClr val="D90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1500" y="1926431"/>
            <a:ext cx="3429000" cy="38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39100" y="1926431"/>
            <a:ext cx="3429000" cy="38100"/>
          </a:xfrm>
          <a:prstGeom prst="rect">
            <a:avLst/>
          </a:prstGeom>
          <a:solidFill>
            <a:srgbClr val="D90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3900" y="4312443"/>
            <a:ext cx="3429000" cy="38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1500" y="4312443"/>
            <a:ext cx="3429000" cy="38100"/>
          </a:xfrm>
          <a:prstGeom prst="rect">
            <a:avLst/>
          </a:prstGeom>
          <a:solidFill>
            <a:srgbClr val="D90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39100" y="4212431"/>
            <a:ext cx="3429000" cy="38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169318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2269331"/>
            <a:ext cx="2667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2269331"/>
            <a:ext cx="2667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4655343"/>
            <a:ext cx="3048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4655343"/>
            <a:ext cx="3048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0" y="4555331"/>
            <a:ext cx="34290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-381000" y="609600"/>
            <a:ext cx="12954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1A1A1A"/>
                </a:solidFill>
                <a:latin typeface="Space Grotesk"/>
              </a:rPr>
              <a:t>Attack </a:t>
            </a:r>
            <a:r>
              <a:rPr sz="3000" b="1" i="0" u="none">
                <a:solidFill>
                  <a:srgbClr val="D90429"/>
                </a:solidFill>
                <a:latin typeface="Space Grotesk"/>
              </a:rPr>
              <a:t>Vectors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" y="2626518"/>
            <a:ext cx="370046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1A1A"/>
                </a:solidFill>
                <a:latin typeface="Space Grotesk"/>
              </a:rPr>
              <a:t>Phishing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" y="3036093"/>
            <a:ext cx="2914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A4A4A"/>
                </a:solidFill>
                <a:latin typeface="Inter"/>
              </a:rPr>
              <a:t>Fraudulent emails copying legitimate entities.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6300" y="2726531"/>
            <a:ext cx="370046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1A1A"/>
                </a:solidFill>
                <a:latin typeface="Space Grotesk"/>
              </a:rPr>
              <a:t>Pretexting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6300" y="3136106"/>
            <a:ext cx="3524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A4A4A"/>
                </a:solidFill>
                <a:latin typeface="Inter"/>
              </a:rPr>
              <a:t>Elaborate false identity narratives.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3900" y="2726531"/>
            <a:ext cx="370046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1A1A"/>
                </a:solidFill>
                <a:latin typeface="Space Grotesk"/>
              </a:rPr>
              <a:t>Baiting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3900" y="3136106"/>
            <a:ext cx="3524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A4A4A"/>
                </a:solidFill>
                <a:latin typeface="Inter"/>
              </a:rPr>
              <a:t>Malicious physical USB drops.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" y="5112543"/>
            <a:ext cx="370046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1A1A"/>
                </a:solidFill>
                <a:latin typeface="Space Grotesk"/>
              </a:rPr>
              <a:t>Vishing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" y="5522118"/>
            <a:ext cx="3524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A4A4A"/>
                </a:solidFill>
                <a:latin typeface="Inter"/>
              </a:rPr>
              <a:t>Voice-based phone call fraud.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6300" y="5112543"/>
            <a:ext cx="370046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1A1A"/>
                </a:solidFill>
                <a:latin typeface="Space Grotesk"/>
              </a:rPr>
              <a:t>Smishing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6300" y="5522118"/>
            <a:ext cx="3524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A4A4A"/>
                </a:solidFill>
                <a:latin typeface="Inter"/>
              </a:rPr>
              <a:t>Deceptive mobile SMS texts.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3900" y="5012531"/>
            <a:ext cx="370046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1A1A"/>
                </a:solidFill>
                <a:latin typeface="Space Grotesk"/>
              </a:rPr>
              <a:t>Tailgating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3900" y="5422106"/>
            <a:ext cx="2914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A4A4A"/>
                </a:solidFill>
                <a:latin typeface="Inter"/>
              </a:rPr>
              <a:t>Unauthorized physical building entry.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648" y="3938587"/>
            <a:ext cx="200025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020" y="3938587"/>
            <a:ext cx="200025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392" y="3938587"/>
            <a:ext cx="20002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764" y="3938587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135" y="3938587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5" y="3376612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5846" y="3376612"/>
            <a:ext cx="762000" cy="76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8218" y="3376612"/>
            <a:ext cx="762000" cy="762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0590" y="3376612"/>
            <a:ext cx="762000" cy="762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2962" y="3276600"/>
            <a:ext cx="762000" cy="762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5334" y="3276600"/>
            <a:ext cx="762000" cy="762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075" y="3605212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875" y="4586287"/>
            <a:ext cx="13335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75396" y="3605212"/>
            <a:ext cx="3429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03921" y="4586287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45868" y="3605212"/>
            <a:ext cx="2667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22018" y="4586287"/>
            <a:ext cx="133350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9190" y="3605212"/>
            <a:ext cx="3048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4378" y="4586287"/>
            <a:ext cx="13335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91562" y="3505200"/>
            <a:ext cx="304800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96275" y="4686300"/>
            <a:ext cx="13335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42984" y="3505200"/>
            <a:ext cx="266700" cy="3048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28634" y="4686300"/>
            <a:ext cx="133350" cy="1333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-381000" y="609600"/>
            <a:ext cx="12954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1A1A1A"/>
                </a:solidFill>
                <a:latin typeface="Space Grotesk"/>
              </a:rPr>
              <a:t>Anatomy of a </a:t>
            </a:r>
            <a:r>
              <a:rPr sz="3000" b="1" i="0" u="none">
                <a:solidFill>
                  <a:srgbClr val="D90429"/>
                </a:solidFill>
                <a:latin typeface="Space Grotesk"/>
              </a:rPr>
              <a:t>Phishing Attack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506" y="4291012"/>
            <a:ext cx="1785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A1A1A"/>
                </a:solidFill>
                <a:latin typeface="Inter"/>
              </a:rPr>
              <a:t>Fake 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506" y="4567237"/>
            <a:ext cx="1785937" cy="16192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D90429"/>
                </a:solidFill>
                <a:latin typeface="Inter"/>
              </a:rPr>
              <a:t>Spoofed Sender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3878" y="4291012"/>
            <a:ext cx="1785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A1A1A"/>
                </a:solidFill>
                <a:latin typeface="Inter"/>
              </a:rPr>
              <a:t>Victim Opens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3878" y="4567237"/>
            <a:ext cx="1785937" cy="16192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D90429"/>
                </a:solidFill>
                <a:latin typeface="Inter"/>
              </a:rPr>
              <a:t>False Urgency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6250" y="4291012"/>
            <a:ext cx="1785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A1A1A"/>
                </a:solidFill>
                <a:latin typeface="Inter"/>
              </a:rPr>
              <a:t>Link Clicked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86250" y="4567237"/>
            <a:ext cx="1785937" cy="16192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D90429"/>
                </a:solidFill>
                <a:latin typeface="Inter"/>
              </a:rPr>
              <a:t>Hidden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18621" y="4291012"/>
            <a:ext cx="1785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A1A1A"/>
                </a:solidFill>
                <a:latin typeface="Inter"/>
              </a:rPr>
              <a:t>Fake Login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18621" y="4567237"/>
            <a:ext cx="1785937" cy="16192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D90429"/>
                </a:solidFill>
                <a:latin typeface="Inter"/>
              </a:rPr>
              <a:t>Cloned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0993" y="4191000"/>
            <a:ext cx="17859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A1A1A"/>
                </a:solidFill>
                <a:latin typeface="Inter"/>
              </a:rPr>
              <a:t>Credentials Stolen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0993" y="4667250"/>
            <a:ext cx="1785937" cy="16192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D90429"/>
                </a:solidFill>
                <a:latin typeface="Inter"/>
              </a:rPr>
              <a:t>Data Captured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3365" y="4191000"/>
            <a:ext cx="17859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A1A1A"/>
                </a:solidFill>
                <a:latin typeface="Inter"/>
              </a:rPr>
              <a:t>Unauthorized 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3365" y="4667250"/>
            <a:ext cx="1785937" cy="16192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D90429"/>
                </a:solidFill>
                <a:latin typeface="Inter"/>
              </a:rPr>
              <a:t>System Breached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52575"/>
            <a:ext cx="3454449" cy="4695825"/>
          </a:xfrm>
          <a:prstGeom prst="roundRect">
            <a:avLst>
              <a:gd name="adj" fmla="val 2205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1552575"/>
            <a:ext cx="3454449" cy="4695825"/>
          </a:xfrm>
          <a:prstGeom prst="roundRect">
            <a:avLst>
              <a:gd name="adj" fmla="val 2205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1552575"/>
            <a:ext cx="3454449" cy="4695825"/>
          </a:xfrm>
          <a:prstGeom prst="roundRect">
            <a:avLst>
              <a:gd name="adj" fmla="val 2205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33675"/>
            <a:ext cx="1524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86100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38550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91000"/>
            <a:ext cx="1143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49" y="2733675"/>
            <a:ext cx="1524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3649" y="3286125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49" y="3838575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649" y="4191000"/>
            <a:ext cx="1143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899" y="2733675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2899" y="3086100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99" y="3638550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899" y="4191000"/>
            <a:ext cx="1143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1A1A"/>
                </a:solidFill>
                <a:latin typeface="Space Grotesk"/>
              </a:rPr>
              <a:t>Major Security </a:t>
            </a:r>
            <a:r>
              <a:rPr sz="3000" b="1" i="0" u="none">
                <a:solidFill>
                  <a:srgbClr val="D90429"/>
                </a:solidFill>
                <a:latin typeface="Space Grotesk"/>
              </a:rPr>
              <a:t>Breaches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857375"/>
            <a:ext cx="373386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A1A1A"/>
                </a:solidFill>
                <a:latin typeface="Space Grotesk"/>
              </a:rPr>
              <a:t>Sony Pictures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276475"/>
            <a:ext cx="3556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90429"/>
                </a:solidFill>
                <a:latin typeface="Inter"/>
              </a:rPr>
              <a:t>2014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3649" y="1857375"/>
            <a:ext cx="373386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Space Grotesk"/>
              </a:rPr>
              <a:t>Twitter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3649" y="2276475"/>
            <a:ext cx="3556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90429"/>
                </a:solidFill>
                <a:latin typeface="Inter"/>
              </a:rPr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899" y="1857375"/>
            <a:ext cx="373386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A1A1A"/>
                </a:solidFill>
                <a:latin typeface="Space Grotesk"/>
              </a:rPr>
              <a:t>Uber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99" y="2276475"/>
            <a:ext cx="3556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90429"/>
                </a:solidFill>
                <a:latin typeface="Inter"/>
              </a:rPr>
              <a:t>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1100" y="2695575"/>
            <a:ext cx="2559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A1A1A"/>
                </a:solidFill>
                <a:latin typeface="Inter"/>
              </a:rPr>
              <a:t>Method:</a:t>
            </a:r>
            <a:r>
              <a:rPr sz="1350" b="0" i="0" u="none">
                <a:solidFill>
                  <a:srgbClr val="1A1A1A"/>
                </a:solidFill>
                <a:latin typeface="Inter"/>
              </a:rPr>
              <a:t> Spear-phishing.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1100" y="3048000"/>
            <a:ext cx="26733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A1A1A"/>
                </a:solidFill>
                <a:latin typeface="Inter"/>
              </a:rPr>
              <a:t>Action:</a:t>
            </a:r>
            <a:r>
              <a:rPr sz="1350" b="0" i="0" u="none">
                <a:solidFill>
                  <a:srgbClr val="1A1A1A"/>
                </a:solidFill>
                <a:latin typeface="Inter"/>
              </a:rPr>
              <a:t> Destructive wiper malware.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1100" y="3600450"/>
            <a:ext cx="26733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A1A1A"/>
                </a:solidFill>
                <a:latin typeface="Inter"/>
              </a:rPr>
              <a:t>Result:</a:t>
            </a:r>
            <a:r>
              <a:rPr sz="1350" b="0" i="0" u="none">
                <a:solidFill>
                  <a:srgbClr val="1A1A1A"/>
                </a:solidFill>
                <a:latin typeface="Inter"/>
              </a:rPr>
              <a:t> Massive internal data exposure.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152900"/>
            <a:ext cx="27114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A1A1A"/>
                </a:solidFill>
                <a:latin typeface="Inter"/>
              </a:rPr>
              <a:t>Lesson:</a:t>
            </a:r>
            <a:r>
              <a:rPr sz="1350" b="0" i="0" u="none">
                <a:solidFill>
                  <a:srgbClr val="1A1A1A"/>
                </a:solidFill>
                <a:latin typeface="Inter"/>
              </a:rPr>
              <a:t> Network segmentation required.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0349" y="2695575"/>
            <a:ext cx="26733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Method: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Phone spear-phishing.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21299" y="3248025"/>
            <a:ext cx="26924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Action: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Internal admin tools breached.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0349" y="3800475"/>
            <a:ext cx="3107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Result: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VIP accounts hijacked.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2249" y="4152900"/>
            <a:ext cx="27114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Lesson: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Limit employee admin privileges.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99599" y="2695575"/>
            <a:ext cx="3012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A1A1A"/>
                </a:solidFill>
                <a:latin typeface="Inter"/>
              </a:rPr>
              <a:t>Method:</a:t>
            </a:r>
            <a:r>
              <a:rPr sz="1350" b="0" i="0" u="none">
                <a:solidFill>
                  <a:srgbClr val="1A1A1A"/>
                </a:solidFill>
                <a:latin typeface="Inter"/>
              </a:rPr>
              <a:t> MFA fatigue attacks.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0549" y="3048000"/>
            <a:ext cx="26924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A1A1A"/>
                </a:solidFill>
                <a:latin typeface="Inter"/>
              </a:rPr>
              <a:t>Action:</a:t>
            </a:r>
            <a:r>
              <a:rPr sz="1350" b="0" i="0" u="none">
                <a:solidFill>
                  <a:srgbClr val="1A1A1A"/>
                </a:solidFill>
                <a:latin typeface="Inter"/>
              </a:rPr>
              <a:t> Contractor VPN compromised.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99599" y="3600450"/>
            <a:ext cx="26733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A1A1A"/>
                </a:solidFill>
                <a:latin typeface="Inter"/>
              </a:rPr>
              <a:t>Result:</a:t>
            </a:r>
            <a:r>
              <a:rPr sz="1350" b="0" i="0" u="none">
                <a:solidFill>
                  <a:srgbClr val="1A1A1A"/>
                </a:solidFill>
                <a:latin typeface="Inter"/>
              </a:rPr>
              <a:t> Critical internal systems exposed.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1499" y="4152900"/>
            <a:ext cx="27114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A1A1A"/>
                </a:solidFill>
                <a:latin typeface="Inter"/>
              </a:rPr>
              <a:t>Lesson:</a:t>
            </a:r>
            <a:r>
              <a:rPr sz="1350" b="0" i="0" u="none">
                <a:solidFill>
                  <a:srgbClr val="1A1A1A"/>
                </a:solidFill>
                <a:latin typeface="Inter"/>
              </a:rPr>
              <a:t> Stricter MFA protocols essential.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5" y="1857375"/>
            <a:ext cx="514350" cy="457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825" y="1857375"/>
            <a:ext cx="51435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175" y="1857375"/>
            <a:ext cx="40005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382905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0" y="3829050"/>
            <a:ext cx="5715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4450" y="3829050"/>
            <a:ext cx="5715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609600"/>
            <a:ext cx="12954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1A1A1A"/>
                </a:solidFill>
                <a:latin typeface="Space Grotesk"/>
              </a:rPr>
              <a:t>Impact of </a:t>
            </a:r>
            <a:r>
              <a:rPr sz="3000" b="1" i="0" u="none">
                <a:solidFill>
                  <a:srgbClr val="D90429"/>
                </a:solidFill>
                <a:latin typeface="Space Grotesk"/>
              </a:rPr>
              <a:t>Cyber Attacks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1581" y="2466975"/>
            <a:ext cx="350043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A1A1A"/>
                </a:solidFill>
                <a:latin typeface="Space Grotesk"/>
              </a:rPr>
              <a:t>Financial Losses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4925" y="2838450"/>
            <a:ext cx="33337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66666"/>
                </a:solidFill>
                <a:latin typeface="Inter"/>
              </a:rPr>
              <a:t>Direct theft and recovery costs.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5781" y="2466975"/>
            <a:ext cx="350043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A1A1A"/>
                </a:solidFill>
                <a:latin typeface="Space Grotesk"/>
              </a:rPr>
              <a:t>Identity Theft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125" y="2838450"/>
            <a:ext cx="33337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66666"/>
                </a:solidFill>
                <a:latin typeface="Inter"/>
              </a:rPr>
              <a:t>Stolen personal credentials utilized.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9981" y="2466975"/>
            <a:ext cx="350043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A1A1A"/>
                </a:solidFill>
                <a:latin typeface="Space Grotesk"/>
              </a:rPr>
              <a:t>Data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3325" y="2838450"/>
            <a:ext cx="3333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66666"/>
                </a:solidFill>
                <a:latin typeface="Inter"/>
              </a:rPr>
              <a:t>Confidential corporate records exposed.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1581" y="4438650"/>
            <a:ext cx="350043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A1A1A"/>
                </a:solidFill>
                <a:latin typeface="Space Grotesk"/>
              </a:rPr>
              <a:t>Business Disruption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4925" y="4810125"/>
            <a:ext cx="33337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66666"/>
                </a:solidFill>
                <a:latin typeface="Inter"/>
              </a:rPr>
              <a:t>Halted operational capabilities.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5781" y="4438650"/>
            <a:ext cx="350043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A1A1A"/>
                </a:solidFill>
                <a:latin typeface="Space Grotesk"/>
              </a:rPr>
              <a:t>Reputation Damage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9125" y="4810125"/>
            <a:ext cx="33337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66666"/>
                </a:solidFill>
                <a:latin typeface="Inter"/>
              </a:rPr>
              <a:t>Long-term brand value destruction.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9981" y="4438650"/>
            <a:ext cx="350043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A1A1A"/>
                </a:solidFill>
                <a:latin typeface="Space Grotesk"/>
              </a:rPr>
              <a:t>Loss of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3325" y="4810125"/>
            <a:ext cx="3333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66666"/>
                </a:solidFill>
                <a:latin typeface="Inter"/>
              </a:rPr>
              <a:t>Customer abandonment follows breaches.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000500" y="4105275"/>
            <a:ext cx="4191000" cy="533400"/>
          </a:xfrm>
          <a:prstGeom prst="roundRect">
            <a:avLst>
              <a:gd name="adj" fmla="val 14285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895475"/>
            <a:ext cx="1524000" cy="1524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276475"/>
            <a:ext cx="76200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4276725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67112" y="609600"/>
            <a:ext cx="6638329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1A1A"/>
                </a:solidFill>
                <a:latin typeface="Space Grotesk"/>
              </a:rPr>
              <a:t>Prevention &amp; </a:t>
            </a:r>
            <a:r>
              <a:rPr sz="3000" b="1" i="0" u="none">
                <a:solidFill>
                  <a:srgbClr val="D90429"/>
                </a:solidFill>
                <a:latin typeface="Space Grotesk"/>
              </a:rPr>
              <a:t>Best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5300" y="4257675"/>
            <a:ext cx="4476750" cy="22860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Inter"/>
              </a:rPr>
              <a:t>Report cyber incidents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8978" y="1666875"/>
            <a:ext cx="337542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650" b="1" i="0" u="none">
                <a:solidFill>
                  <a:srgbClr val="1A1A1A"/>
                </a:solidFill>
                <a:latin typeface="Space Grotesk"/>
              </a:rPr>
              <a:t>Strong Passwords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9712" y="1933575"/>
            <a:ext cx="3214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 i="0" u="none">
                <a:solidFill>
                  <a:srgbClr val="666666"/>
                </a:solidFill>
                <a:latin typeface="Inter"/>
              </a:rPr>
              <a:t>Unique alphanumeric combinations.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971" y="2428875"/>
            <a:ext cx="342542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650" b="1" i="0" u="none">
                <a:solidFill>
                  <a:srgbClr val="1A1A1A"/>
                </a:solidFill>
                <a:latin typeface="Space Grotesk"/>
              </a:rPr>
              <a:t>Phishing 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2087" y="2695575"/>
            <a:ext cx="32623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 i="0" u="none">
                <a:solidFill>
                  <a:srgbClr val="666666"/>
                </a:solidFill>
                <a:latin typeface="Inter"/>
              </a:rPr>
              <a:t>Mandatory employee threat training.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8921" y="3190875"/>
            <a:ext cx="382547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650" b="1" i="0" u="none">
                <a:solidFill>
                  <a:srgbClr val="1A1A1A"/>
                </a:solidFill>
                <a:latin typeface="Space Grotesk"/>
              </a:rPr>
              <a:t>Regular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1087" y="3457575"/>
            <a:ext cx="36433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 i="0" u="none">
                <a:solidFill>
                  <a:srgbClr val="666666"/>
                </a:solidFill>
                <a:latin typeface="Inter"/>
              </a:rPr>
              <a:t>Patch software vulnerabilities constantly.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7600" y="1666875"/>
            <a:ext cx="47244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A1A1A"/>
                </a:solidFill>
                <a:latin typeface="Space Grotesk"/>
              </a:rPr>
              <a:t>Multi-Factor 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7600" y="1933575"/>
            <a:ext cx="4724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Inter"/>
              </a:rPr>
              <a:t>Hardware tokens or biometric checks.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0" y="2428875"/>
            <a:ext cx="47244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A1A1A"/>
                </a:solidFill>
                <a:latin typeface="Space Grotesk"/>
              </a:rPr>
              <a:t>Verify Requests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7600" y="2695575"/>
            <a:ext cx="4724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Inter"/>
              </a:rPr>
              <a:t>Confirm suspicious internal demands.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7600" y="3190875"/>
            <a:ext cx="47244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A1A1A"/>
                </a:solidFill>
                <a:latin typeface="Space Grotesk"/>
              </a:rPr>
              <a:t>Secure Backups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7600" y="3457575"/>
            <a:ext cx="4724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Inter"/>
              </a:rPr>
              <a:t>Offline redundant data storage.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041552"/>
            <a:ext cx="525780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041552"/>
            <a:ext cx="52578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2067817"/>
            <a:ext cx="4762500" cy="272221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6030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38420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10810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2774602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498502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187" y="4222402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1178272"/>
            <a:ext cx="5620702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FFFFFF"/>
                </a:solidFill>
                <a:latin typeface="Space Grotesk"/>
              </a:rPr>
              <a:t>Don't Become the </a:t>
            </a:r>
            <a:r>
              <a:t>
</a:t>
            </a:r>
            <a:r>
              <a:rPr sz="3600" b="1" i="0" u="none">
                <a:solidFill>
                  <a:srgbClr val="D90429"/>
                </a:solidFill>
                <a:latin typeface="Space Grotesk"/>
              </a:rPr>
              <a:t>Next Victim!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279677"/>
            <a:ext cx="6572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Inter"/>
              </a:rPr>
              <a:t>References: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517802"/>
            <a:ext cx="6572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88888"/>
                </a:solidFill>
                <a:latin typeface="Inter"/>
              </a:rPr>
              <a:t>CISA | FBI Cyber Division | Official Corporate Incident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641252"/>
            <a:ext cx="230028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Space Grotesk"/>
              </a:rPr>
              <a:t>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2936527"/>
            <a:ext cx="2190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0A0A0"/>
                </a:solidFill>
                <a:latin typeface="Inter"/>
              </a:rPr>
              <a:t>Think before clicking.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3365152"/>
            <a:ext cx="191273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Space Grotesk"/>
              </a:rPr>
              <a:t>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400" y="3660427"/>
            <a:ext cx="1821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0A0A0"/>
                </a:solidFill>
                <a:latin typeface="Inter"/>
              </a:rPr>
              <a:t>Verify the source.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400" y="4089052"/>
            <a:ext cx="3250406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Space Grotesk"/>
              </a:rPr>
              <a:t>PROTECT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4384327"/>
            <a:ext cx="3095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A0A0A0"/>
                </a:solidFill>
                <a:latin typeface="Inter"/>
              </a:rPr>
              <a:t>Keep your information secure.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4512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52512"/>
            <a:ext cx="92749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https://irp.cdn-website.com/35fcf6c5/dms3rep/multi/Understanding+Social+Engineering+Penetration+Testing-e97c0b16.png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52537"/>
            <a:ext cx="3238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www.threatintelligence.com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781175"/>
            <a:ext cx="10048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https://img.magnific.com/premium-photo/glowing-red-digital-lock-dark-smoky-backdrop-cybersecurity-online-safety-protection-3d-rendering_117466-54254.jpg?semt=ais_hybrid&amp;w=740&amp;q=80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133600"/>
            <a:ext cx="24884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419</Words>
  <Application>Microsoft Office PowerPoint</Application>
  <PresentationFormat>Widescreen</PresentationFormat>
  <Paragraphs>101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Space Grotesk</vt:lpstr>
      <vt:lpstr>Inter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AYUSH</dc:creator>
  <cp:keywords/>
  <dc:description>generated using python-pptx</dc:description>
  <cp:lastModifiedBy>ayush parmar</cp:lastModifiedBy>
  <cp:revision>2</cp:revision>
  <dcterms:created xsi:type="dcterms:W3CDTF">2013-01-27T09:14:16Z</dcterms:created>
  <dcterms:modified xsi:type="dcterms:W3CDTF">2026-10-30T16:12:59Z</dcterms:modified>
  <cp:category/>
</cp:coreProperties>
</file>