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4.png" ContentType="image/png"/>
  <Override PartName="/ppt/media/image12.png" ContentType="image/png"/>
  <Override PartName="/ppt/media/image5.png" ContentType="image/png"/>
  <Override PartName="/ppt/media/image13.png" ContentType="image/png"/>
  <Override PartName="/ppt/media/image6.png" ContentType="image/png"/>
  <Override PartName="/ppt/media/image14.png" ContentType="image/png"/>
  <Override PartName="/ppt/media/image7.png" ContentType="image/png"/>
  <Override PartName="/ppt/media/image15.png" ContentType="image/png"/>
  <Override PartName="/ppt/media/image10.png" ContentType="image/png"/>
  <Override PartName="/ppt/media/image2.png" ContentType="image/png"/>
  <Override PartName="/ppt/media/image19.png" ContentType="image/png"/>
  <Override PartName="/ppt/media/image8.png" ContentType="image/png"/>
  <Override PartName="/ppt/media/image20.png" ContentType="image/png"/>
  <Override PartName="/ppt/media/image16.png" ContentType="image/png"/>
  <Override PartName="/ppt/media/image9.png" ContentType="image/png"/>
  <Override PartName="/ppt/media/image21.png" ContentType="image/png"/>
  <Override PartName="/ppt/media/image3.png" ContentType="image/png"/>
  <Override PartName="/ppt/media/image11.png" ContentType="image/png"/>
  <Override PartName="/ppt/media/image17.png" ContentType="image/png"/>
  <Override PartName="/ppt/media/image22.png" ContentType="image/png"/>
  <Override PartName="/ppt/media/image23.png" ContentType="image/png"/>
  <Override PartName="/ppt/media/image18.png" ContentType="image/png"/>
  <Override PartName="/ppt/media/image24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F8D1ED-3DAB-4BE4-B6A9-9F83DAA8F3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246C17-DE51-41DE-ACBE-B3DB1D60AE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/>
          <p:nvPr/>
        </p:nvSpPr>
        <p:spPr>
          <a:xfrm>
            <a:off x="-952560" y="-952560"/>
            <a:ext cx="3809520" cy="3809520"/>
          </a:xfrm>
          <a:prstGeom prst="rect">
            <a:avLst/>
          </a:prstGeom>
          <a:solidFill>
            <a:srgbClr val="34185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" name="Rectangle 2"/>
          <p:cNvSpPr/>
          <p:nvPr/>
        </p:nvSpPr>
        <p:spPr>
          <a:xfrm>
            <a:off x="8381880" y="3048120"/>
            <a:ext cx="4762080" cy="4762080"/>
          </a:xfrm>
          <a:prstGeom prst="rect">
            <a:avLst/>
          </a:prstGeom>
          <a:solidFill>
            <a:srgbClr val="162c39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" name="Rounded Rectangle 3"/>
          <p:cNvSpPr/>
          <p:nvPr/>
        </p:nvSpPr>
        <p:spPr>
          <a:xfrm>
            <a:off x="4129200" y="1807920"/>
            <a:ext cx="3933360" cy="275760"/>
          </a:xfrm>
          <a:prstGeom prst="roundRect">
            <a:avLst>
              <a:gd name="adj" fmla="val 13793"/>
            </a:avLst>
          </a:prstGeom>
          <a:solidFill>
            <a:srgbClr val="162c39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" name="TextBox 4"/>
          <p:cNvSpPr/>
          <p:nvPr/>
        </p:nvSpPr>
        <p:spPr>
          <a:xfrm>
            <a:off x="3751560" y="1864800"/>
            <a:ext cx="46882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00e676"/>
                </a:solidFill>
                <a:uFillTx/>
                <a:latin typeface="Inter"/>
              </a:rPr>
              <a:t>DIGITAL FORENSICS &amp; THREAT INTELLIGENCE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TextBox 5"/>
          <p:cNvSpPr/>
          <p:nvPr/>
        </p:nvSpPr>
        <p:spPr>
          <a:xfrm>
            <a:off x="1365120" y="2388960"/>
            <a:ext cx="946080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ts val="5281"/>
              </a:lnSpc>
            </a:pPr>
            <a:r>
              <a:rPr b="1" lang="en-US" sz="4800" strike="noStrike" u="none">
                <a:solidFill>
                  <a:srgbClr val="ffffff"/>
                </a:solidFill>
                <a:uFillTx/>
                <a:latin typeface="Outfit"/>
              </a:rPr>
              <a:t>The Human Side of </a:t>
            </a:r>
            <a:r>
              <a:rPr b="1" lang="en-US" sz="4800" strike="noStrike" u="none">
                <a:solidFill>
                  <a:srgbClr val="00e676"/>
                </a:solidFill>
                <a:uFillTx/>
                <a:latin typeface="Outfit"/>
              </a:rPr>
              <a:t>Cybersecurity</a:t>
            </a:r>
            <a:endParaRPr b="0" lang="en-US" sz="4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TextBox 6"/>
          <p:cNvSpPr/>
          <p:nvPr/>
        </p:nvSpPr>
        <p:spPr>
          <a:xfrm>
            <a:off x="2913840" y="3211560"/>
            <a:ext cx="6363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b3c0d1"/>
                </a:solidFill>
                <a:uFillTx/>
                <a:latin typeface="Inter"/>
              </a:rPr>
              <a:t>Understanding Social Engineering and Major Data Breaches.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Rounded Rectangle 7"/>
          <p:cNvSpPr/>
          <p:nvPr/>
        </p:nvSpPr>
        <p:spPr>
          <a:xfrm>
            <a:off x="2529000" y="4021200"/>
            <a:ext cx="7133760" cy="1028520"/>
          </a:xfrm>
          <a:prstGeom prst="roundRect">
            <a:avLst>
              <a:gd name="adj" fmla="val 11111"/>
            </a:avLst>
          </a:prstGeom>
          <a:solidFill>
            <a:srgbClr val="211234"/>
          </a:solidFill>
          <a:ln>
            <a:solidFill>
              <a:srgbClr val="312343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" name="TextBox 8"/>
          <p:cNvSpPr/>
          <p:nvPr/>
        </p:nvSpPr>
        <p:spPr>
          <a:xfrm>
            <a:off x="3480840" y="4335840"/>
            <a:ext cx="540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9d4edd"/>
                </a:solidFill>
                <a:uFillTx/>
                <a:latin typeface="Inter"/>
              </a:rPr>
              <a:t>STUDENT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TextBox 9"/>
          <p:cNvSpPr/>
          <p:nvPr/>
        </p:nvSpPr>
        <p:spPr>
          <a:xfrm>
            <a:off x="2664000" y="4516560"/>
            <a:ext cx="1588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ffffff"/>
                </a:solidFill>
                <a:uFillTx/>
                <a:latin typeface="Outfit"/>
              </a:rPr>
              <a:t>Shubham makwana 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TextBox 10"/>
          <p:cNvSpPr/>
          <p:nvPr/>
        </p:nvSpPr>
        <p:spPr>
          <a:xfrm>
            <a:off x="5206320" y="4335840"/>
            <a:ext cx="7884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9d4edd"/>
                </a:solidFill>
                <a:uFillTx/>
                <a:latin typeface="Inter"/>
              </a:rPr>
              <a:t>ENROLLMENT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Box 11"/>
          <p:cNvSpPr/>
          <p:nvPr/>
        </p:nvSpPr>
        <p:spPr>
          <a:xfrm>
            <a:off x="4778640" y="4516560"/>
            <a:ext cx="11304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ffffff"/>
                </a:solidFill>
                <a:uFillTx/>
                <a:latin typeface="Outfit"/>
              </a:rPr>
              <a:t>241105060079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TextBox 12"/>
          <p:cNvSpPr/>
          <p:nvPr/>
        </p:nvSpPr>
        <p:spPr>
          <a:xfrm>
            <a:off x="7149600" y="4335840"/>
            <a:ext cx="528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9d4edd"/>
                </a:solidFill>
                <a:uFillTx/>
                <a:latin typeface="Inter"/>
              </a:rPr>
              <a:t>SUBJECT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TextBox 13"/>
          <p:cNvSpPr/>
          <p:nvPr/>
        </p:nvSpPr>
        <p:spPr>
          <a:xfrm>
            <a:off x="6651360" y="4516560"/>
            <a:ext cx="3132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ffffff"/>
                </a:solidFill>
                <a:uFillTx/>
                <a:latin typeface="Outfit"/>
              </a:rPr>
              <a:t>Cns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TextBox 14"/>
          <p:cNvSpPr/>
          <p:nvPr/>
        </p:nvSpPr>
        <p:spPr>
          <a:xfrm>
            <a:off x="8611920" y="4335840"/>
            <a:ext cx="7203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9d4edd"/>
                </a:solidFill>
                <a:uFillTx/>
                <a:latin typeface="Inter"/>
              </a:rPr>
              <a:t>INSTITUTION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TextBox 15"/>
          <p:cNvSpPr/>
          <p:nvPr/>
        </p:nvSpPr>
        <p:spPr>
          <a:xfrm>
            <a:off x="8745840" y="4516560"/>
            <a:ext cx="4528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trike="noStrike" u="none">
                <a:solidFill>
                  <a:srgbClr val="ffffff"/>
                </a:solidFill>
                <a:uFillTx/>
                <a:latin typeface="Outfit"/>
              </a:rPr>
              <a:t>GMIU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"/>
          <p:cNvSpPr/>
          <p:nvPr/>
        </p:nvSpPr>
        <p:spPr>
          <a:xfrm>
            <a:off x="609480" y="1368720"/>
            <a:ext cx="1895040" cy="275760"/>
          </a:xfrm>
          <a:prstGeom prst="roundRect">
            <a:avLst>
              <a:gd name="adj" fmla="val 13793"/>
            </a:avLst>
          </a:prstGeom>
          <a:solidFill>
            <a:srgbClr val="f0e4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1" name="Picture 2" descr="image.png"/>
          <p:cNvPicPr/>
          <p:nvPr/>
        </p:nvPicPr>
        <p:blipFill>
          <a:blip r:embed="rId1"/>
          <a:stretch/>
        </p:blipFill>
        <p:spPr>
          <a:xfrm>
            <a:off x="6172200" y="609480"/>
            <a:ext cx="5409720" cy="563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3" descr="image.png"/>
          <p:cNvPicPr/>
          <p:nvPr/>
        </p:nvPicPr>
        <p:blipFill>
          <a:blip r:embed="rId2"/>
          <a:stretch/>
        </p:blipFill>
        <p:spPr>
          <a:xfrm>
            <a:off x="6400800" y="838080"/>
            <a:ext cx="4952520" cy="518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4" descr="image.png"/>
          <p:cNvPicPr/>
          <p:nvPr/>
        </p:nvPicPr>
        <p:blipFill>
          <a:blip r:embed="rId3"/>
          <a:stretch/>
        </p:blipFill>
        <p:spPr>
          <a:xfrm>
            <a:off x="609480" y="409860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5" descr="image.png"/>
          <p:cNvPicPr/>
          <p:nvPr/>
        </p:nvPicPr>
        <p:blipFill>
          <a:blip r:embed="rId4"/>
          <a:stretch/>
        </p:blipFill>
        <p:spPr>
          <a:xfrm>
            <a:off x="3200400" y="409860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6" descr="image.png"/>
          <p:cNvPicPr/>
          <p:nvPr/>
        </p:nvPicPr>
        <p:blipFill>
          <a:blip r:embed="rId5"/>
          <a:stretch/>
        </p:blipFill>
        <p:spPr>
          <a:xfrm>
            <a:off x="609480" y="490824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7" descr="image.png"/>
          <p:cNvPicPr/>
          <p:nvPr/>
        </p:nvPicPr>
        <p:blipFill>
          <a:blip r:embed="rId6"/>
          <a:stretch/>
        </p:blipFill>
        <p:spPr>
          <a:xfrm>
            <a:off x="3200400" y="490824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8" descr="image.png"/>
          <p:cNvPicPr/>
          <p:nvPr/>
        </p:nvPicPr>
        <p:blipFill>
          <a:blip r:embed="rId7"/>
          <a:stretch/>
        </p:blipFill>
        <p:spPr>
          <a:xfrm>
            <a:off x="704880" y="4212720"/>
            <a:ext cx="19008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Picture 9" descr="image.png"/>
          <p:cNvPicPr/>
          <p:nvPr/>
        </p:nvPicPr>
        <p:blipFill>
          <a:blip r:embed="rId8"/>
          <a:stretch/>
        </p:blipFill>
        <p:spPr>
          <a:xfrm>
            <a:off x="3314880" y="421272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Picture 10" descr="image.png"/>
          <p:cNvPicPr/>
          <p:nvPr/>
        </p:nvPicPr>
        <p:blipFill>
          <a:blip r:embed="rId9"/>
          <a:stretch/>
        </p:blipFill>
        <p:spPr>
          <a:xfrm>
            <a:off x="723960" y="50223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11" descr="image.png"/>
          <p:cNvPicPr/>
          <p:nvPr/>
        </p:nvPicPr>
        <p:blipFill>
          <a:blip r:embed="rId10"/>
          <a:stretch/>
        </p:blipFill>
        <p:spPr>
          <a:xfrm>
            <a:off x="3324240" y="5022360"/>
            <a:ext cx="13284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Box 12"/>
          <p:cNvSpPr/>
          <p:nvPr/>
        </p:nvSpPr>
        <p:spPr>
          <a:xfrm>
            <a:off x="723960" y="1425960"/>
            <a:ext cx="1761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9d4edd"/>
                </a:solidFill>
                <a:uFillTx/>
                <a:latin typeface="Inter"/>
              </a:rPr>
              <a:t>THE VULNERABILITY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TextBox 13"/>
          <p:cNvSpPr/>
          <p:nvPr/>
        </p:nvSpPr>
        <p:spPr>
          <a:xfrm>
            <a:off x="609480" y="1797480"/>
            <a:ext cx="5300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960"/>
              </a:lnSpc>
            </a:pPr>
            <a:r>
              <a:rPr b="1" lang="en-US" sz="3600" strike="noStrike" u="none">
                <a:solidFill>
                  <a:srgbClr val="1e1e24"/>
                </a:solidFill>
                <a:uFillTx/>
                <a:latin typeface="Outfit"/>
              </a:rPr>
              <a:t>Why Humans Are the Target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TextBox 14"/>
          <p:cNvSpPr/>
          <p:nvPr/>
        </p:nvSpPr>
        <p:spPr>
          <a:xfrm>
            <a:off x="609480" y="3031920"/>
            <a:ext cx="5047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4a4a5a"/>
                </a:solidFill>
                <a:uFillTx/>
                <a:latin typeface="Inter"/>
              </a:rPr>
              <a:t>Technology is hard to hack; human psychology is easy to manipulate. Attackers exploit emotions rather than code.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TextBox 15"/>
          <p:cNvSpPr/>
          <p:nvPr/>
        </p:nvSpPr>
        <p:spPr>
          <a:xfrm>
            <a:off x="2145600" y="4098600"/>
            <a:ext cx="3945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1e1e24"/>
                </a:solidFill>
                <a:uFillTx/>
                <a:latin typeface="Outfit"/>
              </a:rPr>
              <a:t>Trust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TextBox 16"/>
          <p:cNvSpPr/>
          <p:nvPr/>
        </p:nvSpPr>
        <p:spPr>
          <a:xfrm>
            <a:off x="1143000" y="4355640"/>
            <a:ext cx="19238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b6b7b"/>
                </a:solidFill>
                <a:uFillTx/>
                <a:latin typeface="Inter"/>
              </a:rPr>
              <a:t>Impersonating authority figures.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TextBox 17"/>
          <p:cNvSpPr/>
          <p:nvPr/>
        </p:nvSpPr>
        <p:spPr>
          <a:xfrm>
            <a:off x="4761720" y="4098600"/>
            <a:ext cx="3441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1e1e24"/>
                </a:solidFill>
                <a:uFillTx/>
                <a:latin typeface="Outfit"/>
              </a:rPr>
              <a:t>Fear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TextBox 18"/>
          <p:cNvSpPr/>
          <p:nvPr/>
        </p:nvSpPr>
        <p:spPr>
          <a:xfrm>
            <a:off x="3733920" y="4355640"/>
            <a:ext cx="19238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b6b7b"/>
                </a:solidFill>
                <a:uFillTx/>
                <a:latin typeface="Inter"/>
              </a:rPr>
              <a:t>Threatening severe consequences.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TextBox 19"/>
          <p:cNvSpPr/>
          <p:nvPr/>
        </p:nvSpPr>
        <p:spPr>
          <a:xfrm>
            <a:off x="2045160" y="4908240"/>
            <a:ext cx="482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1e1e24"/>
                </a:solidFill>
                <a:uFillTx/>
                <a:latin typeface="Outfit"/>
              </a:rPr>
              <a:t>Greed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Box 20"/>
          <p:cNvSpPr/>
          <p:nvPr/>
        </p:nvSpPr>
        <p:spPr>
          <a:xfrm>
            <a:off x="1373760" y="5165280"/>
            <a:ext cx="1716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b6b7b"/>
                </a:solidFill>
                <a:uFillTx/>
                <a:latin typeface="Inter"/>
              </a:rPr>
              <a:t>Promising financial rewards.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Box 21"/>
          <p:cNvSpPr/>
          <p:nvPr/>
        </p:nvSpPr>
        <p:spPr>
          <a:xfrm>
            <a:off x="4606200" y="4908240"/>
            <a:ext cx="6552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trike="noStrike" u="none">
                <a:solidFill>
                  <a:srgbClr val="1e1e24"/>
                </a:solidFill>
                <a:uFillTx/>
                <a:latin typeface="Outfit"/>
              </a:rPr>
              <a:t>Urgency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Box 22"/>
          <p:cNvSpPr/>
          <p:nvPr/>
        </p:nvSpPr>
        <p:spPr>
          <a:xfrm>
            <a:off x="3733920" y="5165280"/>
            <a:ext cx="1923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b6b7b"/>
                </a:solidFill>
                <a:uFillTx/>
                <a:latin typeface="Inter"/>
              </a:rPr>
              <a:t>Demanding immediate action.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1"/>
          <p:cNvSpPr/>
          <p:nvPr/>
        </p:nvSpPr>
        <p:spPr>
          <a:xfrm>
            <a:off x="609480" y="609480"/>
            <a:ext cx="10972440" cy="275760"/>
          </a:xfrm>
          <a:prstGeom prst="roundRect">
            <a:avLst>
              <a:gd name="adj" fmla="val 13793"/>
            </a:avLst>
          </a:prstGeom>
          <a:solidFill>
            <a:srgbClr val="eadff6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3" name="Rounded Rectangle 2"/>
          <p:cNvSpPr/>
          <p:nvPr/>
        </p:nvSpPr>
        <p:spPr>
          <a:xfrm>
            <a:off x="765000" y="2138400"/>
            <a:ext cx="3401280" cy="1819080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4" name="Rounded Rectangle 3"/>
          <p:cNvSpPr/>
          <p:nvPr/>
        </p:nvSpPr>
        <p:spPr>
          <a:xfrm>
            <a:off x="4395240" y="2138400"/>
            <a:ext cx="3401280" cy="1819080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5" name="Rounded Rectangle 4"/>
          <p:cNvSpPr/>
          <p:nvPr/>
        </p:nvSpPr>
        <p:spPr>
          <a:xfrm>
            <a:off x="8025120" y="2138400"/>
            <a:ext cx="3401280" cy="1819080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6" name="Rounded Rectangle 5"/>
          <p:cNvSpPr/>
          <p:nvPr/>
        </p:nvSpPr>
        <p:spPr>
          <a:xfrm>
            <a:off x="2580120" y="4186080"/>
            <a:ext cx="3401280" cy="1819080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7" name="Rounded Rectangle 6"/>
          <p:cNvSpPr/>
          <p:nvPr/>
        </p:nvSpPr>
        <p:spPr>
          <a:xfrm>
            <a:off x="6210360" y="4186080"/>
            <a:ext cx="3401280" cy="1819080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8" name="Rectangle 7"/>
          <p:cNvSpPr/>
          <p:nvPr/>
        </p:nvSpPr>
        <p:spPr>
          <a:xfrm>
            <a:off x="765000" y="3948120"/>
            <a:ext cx="340128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9" name="Rectangle 8"/>
          <p:cNvSpPr/>
          <p:nvPr/>
        </p:nvSpPr>
        <p:spPr>
          <a:xfrm>
            <a:off x="765000" y="2138400"/>
            <a:ext cx="3401280" cy="37800"/>
          </a:xfrm>
          <a:prstGeom prst="rect">
            <a:avLst/>
          </a:prstGeom>
          <a:solidFill>
            <a:srgbClr val="9d4edd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0" name="Rectangle 9"/>
          <p:cNvSpPr/>
          <p:nvPr/>
        </p:nvSpPr>
        <p:spPr>
          <a:xfrm>
            <a:off x="765000" y="2138400"/>
            <a:ext cx="9000" cy="1819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" rIns="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1" name="Rectangle 10"/>
          <p:cNvSpPr/>
          <p:nvPr/>
        </p:nvSpPr>
        <p:spPr>
          <a:xfrm>
            <a:off x="4156920" y="2138400"/>
            <a:ext cx="9000" cy="1819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" rIns="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2" name="Rectangle 11"/>
          <p:cNvSpPr/>
          <p:nvPr/>
        </p:nvSpPr>
        <p:spPr>
          <a:xfrm>
            <a:off x="4395240" y="3948120"/>
            <a:ext cx="340128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3" name="Rectangle 12"/>
          <p:cNvSpPr/>
          <p:nvPr/>
        </p:nvSpPr>
        <p:spPr>
          <a:xfrm>
            <a:off x="4395240" y="2138400"/>
            <a:ext cx="3401280" cy="3780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4" name="Rectangle 13"/>
          <p:cNvSpPr/>
          <p:nvPr/>
        </p:nvSpPr>
        <p:spPr>
          <a:xfrm>
            <a:off x="4395240" y="2138400"/>
            <a:ext cx="9000" cy="1819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" rIns="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5" name="Rectangle 14"/>
          <p:cNvSpPr/>
          <p:nvPr/>
        </p:nvSpPr>
        <p:spPr>
          <a:xfrm>
            <a:off x="7787160" y="2138400"/>
            <a:ext cx="9000" cy="1819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" rIns="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6" name="Rectangle 15"/>
          <p:cNvSpPr/>
          <p:nvPr/>
        </p:nvSpPr>
        <p:spPr>
          <a:xfrm>
            <a:off x="8025120" y="3948120"/>
            <a:ext cx="340128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7" name="Rectangle 16"/>
          <p:cNvSpPr/>
          <p:nvPr/>
        </p:nvSpPr>
        <p:spPr>
          <a:xfrm>
            <a:off x="8025120" y="2138400"/>
            <a:ext cx="3401280" cy="37800"/>
          </a:xfrm>
          <a:prstGeom prst="rect">
            <a:avLst/>
          </a:prstGeom>
          <a:solidFill>
            <a:srgbClr val="00b359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8" name="Rectangle 17"/>
          <p:cNvSpPr/>
          <p:nvPr/>
        </p:nvSpPr>
        <p:spPr>
          <a:xfrm>
            <a:off x="8025120" y="2138400"/>
            <a:ext cx="9000" cy="1819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" rIns="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9" name="Rectangle 18"/>
          <p:cNvSpPr/>
          <p:nvPr/>
        </p:nvSpPr>
        <p:spPr>
          <a:xfrm>
            <a:off x="11417040" y="2138400"/>
            <a:ext cx="9000" cy="1819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" rIns="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0" name="Rectangle 19"/>
          <p:cNvSpPr/>
          <p:nvPr/>
        </p:nvSpPr>
        <p:spPr>
          <a:xfrm>
            <a:off x="2580120" y="5996160"/>
            <a:ext cx="340128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1" name="Rectangle 20"/>
          <p:cNvSpPr/>
          <p:nvPr/>
        </p:nvSpPr>
        <p:spPr>
          <a:xfrm>
            <a:off x="2580120" y="4186080"/>
            <a:ext cx="3401280" cy="37800"/>
          </a:xfrm>
          <a:prstGeom prst="rect">
            <a:avLst/>
          </a:prstGeom>
          <a:solidFill>
            <a:srgbClr val="9d4edd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2" name="Rectangle 21"/>
          <p:cNvSpPr/>
          <p:nvPr/>
        </p:nvSpPr>
        <p:spPr>
          <a:xfrm>
            <a:off x="2580120" y="4186080"/>
            <a:ext cx="9000" cy="1819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" rIns="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3" name="Rectangle 22"/>
          <p:cNvSpPr/>
          <p:nvPr/>
        </p:nvSpPr>
        <p:spPr>
          <a:xfrm>
            <a:off x="5972040" y="4186080"/>
            <a:ext cx="9000" cy="1819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" rIns="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4" name="Rectangle 23"/>
          <p:cNvSpPr/>
          <p:nvPr/>
        </p:nvSpPr>
        <p:spPr>
          <a:xfrm>
            <a:off x="6210360" y="5996160"/>
            <a:ext cx="340128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5" name="Rectangle 24"/>
          <p:cNvSpPr/>
          <p:nvPr/>
        </p:nvSpPr>
        <p:spPr>
          <a:xfrm>
            <a:off x="6210360" y="4186080"/>
            <a:ext cx="3401280" cy="3780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6" name="Rectangle 25"/>
          <p:cNvSpPr/>
          <p:nvPr/>
        </p:nvSpPr>
        <p:spPr>
          <a:xfrm>
            <a:off x="6210360" y="4186080"/>
            <a:ext cx="9000" cy="1819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" rIns="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7" name="Rectangle 26"/>
          <p:cNvSpPr/>
          <p:nvPr/>
        </p:nvSpPr>
        <p:spPr>
          <a:xfrm>
            <a:off x="9602280" y="4186080"/>
            <a:ext cx="9000" cy="1819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320" rIns="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68" name="Picture 27" descr="image.png"/>
          <p:cNvPicPr/>
          <p:nvPr/>
        </p:nvPicPr>
        <p:blipFill>
          <a:blip r:embed="rId1"/>
          <a:stretch/>
        </p:blipFill>
        <p:spPr>
          <a:xfrm>
            <a:off x="1079280" y="248112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28" descr="image.png"/>
          <p:cNvPicPr/>
          <p:nvPr/>
        </p:nvPicPr>
        <p:blipFill>
          <a:blip r:embed="rId2"/>
          <a:stretch/>
        </p:blipFill>
        <p:spPr>
          <a:xfrm>
            <a:off x="4709520" y="248112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29" descr="image.png"/>
          <p:cNvPicPr/>
          <p:nvPr/>
        </p:nvPicPr>
        <p:blipFill>
          <a:blip r:embed="rId3"/>
          <a:stretch/>
        </p:blipFill>
        <p:spPr>
          <a:xfrm>
            <a:off x="8339760" y="2481120"/>
            <a:ext cx="3330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30" descr="image.png"/>
          <p:cNvPicPr/>
          <p:nvPr/>
        </p:nvPicPr>
        <p:blipFill>
          <a:blip r:embed="rId4"/>
          <a:stretch/>
        </p:blipFill>
        <p:spPr>
          <a:xfrm>
            <a:off x="2894400" y="452916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31" descr="image.png"/>
          <p:cNvPicPr/>
          <p:nvPr/>
        </p:nvPicPr>
        <p:blipFill>
          <a:blip r:embed="rId5"/>
          <a:stretch/>
        </p:blipFill>
        <p:spPr>
          <a:xfrm>
            <a:off x="6524640" y="4529160"/>
            <a:ext cx="3330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Box 32"/>
          <p:cNvSpPr/>
          <p:nvPr/>
        </p:nvSpPr>
        <p:spPr>
          <a:xfrm>
            <a:off x="723960" y="666720"/>
            <a:ext cx="108392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9d4edd"/>
                </a:solidFill>
                <a:uFillTx/>
                <a:latin typeface="Inter"/>
              </a:rPr>
              <a:t>THREAT VECTORS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TextBox 33"/>
          <p:cNvSpPr/>
          <p:nvPr/>
        </p:nvSpPr>
        <p:spPr>
          <a:xfrm>
            <a:off x="2846160" y="1038240"/>
            <a:ext cx="7108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e1e24"/>
                </a:solidFill>
                <a:uFillTx/>
                <a:latin typeface="Outfit"/>
              </a:rPr>
              <a:t>Common Social Engineering Techniques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TextBox 34"/>
          <p:cNvSpPr/>
          <p:nvPr/>
        </p:nvSpPr>
        <p:spPr>
          <a:xfrm>
            <a:off x="2477520" y="2900520"/>
            <a:ext cx="8424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trike="noStrike" u="none">
                <a:solidFill>
                  <a:srgbClr val="1e1e24"/>
                </a:solidFill>
                <a:uFillTx/>
                <a:latin typeface="Outfit"/>
              </a:rPr>
              <a:t>Phishing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TextBox 35"/>
          <p:cNvSpPr/>
          <p:nvPr/>
        </p:nvSpPr>
        <p:spPr>
          <a:xfrm>
            <a:off x="1079280" y="3243240"/>
            <a:ext cx="28677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130" strike="noStrike" u="none">
                <a:solidFill>
                  <a:srgbClr val="6b6b7b"/>
                </a:solidFill>
                <a:uFillTx/>
                <a:latin typeface="Inter"/>
              </a:rPr>
              <a:t>Deceptive mass emails mimicking trusted brands.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TextBox 36"/>
          <p:cNvSpPr/>
          <p:nvPr/>
        </p:nvSpPr>
        <p:spPr>
          <a:xfrm>
            <a:off x="5796000" y="2900520"/>
            <a:ext cx="14655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trike="noStrike" u="none">
                <a:solidFill>
                  <a:srgbClr val="1e1e24"/>
                </a:solidFill>
                <a:uFillTx/>
                <a:latin typeface="Outfit"/>
              </a:rPr>
              <a:t>Spear Phishing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37"/>
          <p:cNvSpPr/>
          <p:nvPr/>
        </p:nvSpPr>
        <p:spPr>
          <a:xfrm>
            <a:off x="4709520" y="3243240"/>
            <a:ext cx="28677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130" strike="noStrike" u="none">
                <a:solidFill>
                  <a:srgbClr val="6b6b7b"/>
                </a:solidFill>
                <a:uFillTx/>
                <a:latin typeface="Inter"/>
              </a:rPr>
              <a:t>Highly targeted emails directed at specific individuals.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Box 38"/>
          <p:cNvSpPr/>
          <p:nvPr/>
        </p:nvSpPr>
        <p:spPr>
          <a:xfrm>
            <a:off x="9670320" y="2900520"/>
            <a:ext cx="9774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trike="noStrike" u="none">
                <a:solidFill>
                  <a:srgbClr val="1e1e24"/>
                </a:solidFill>
                <a:uFillTx/>
                <a:latin typeface="Outfit"/>
              </a:rPr>
              <a:t>Pretexting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TextBox 39"/>
          <p:cNvSpPr/>
          <p:nvPr/>
        </p:nvSpPr>
        <p:spPr>
          <a:xfrm>
            <a:off x="8339760" y="3243240"/>
            <a:ext cx="28677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130" strike="noStrike" u="none">
                <a:solidFill>
                  <a:srgbClr val="6b6b7b"/>
                </a:solidFill>
                <a:uFillTx/>
                <a:latin typeface="Inter"/>
              </a:rPr>
              <a:t>Fabricating a detailed story to manipulate targets.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TextBox 40"/>
          <p:cNvSpPr/>
          <p:nvPr/>
        </p:nvSpPr>
        <p:spPr>
          <a:xfrm>
            <a:off x="4377240" y="4948200"/>
            <a:ext cx="6728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trike="noStrike" u="none">
                <a:solidFill>
                  <a:srgbClr val="1e1e24"/>
                </a:solidFill>
                <a:uFillTx/>
                <a:latin typeface="Outfit"/>
              </a:rPr>
              <a:t>Baiting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TextBox 41"/>
          <p:cNvSpPr/>
          <p:nvPr/>
        </p:nvSpPr>
        <p:spPr>
          <a:xfrm>
            <a:off x="2894400" y="5291280"/>
            <a:ext cx="28677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130" strike="noStrike" u="none">
                <a:solidFill>
                  <a:srgbClr val="6b6b7b"/>
                </a:solidFill>
                <a:uFillTx/>
                <a:latin typeface="Inter"/>
              </a:rPr>
              <a:t>Offering attractive items containing malicious payloads.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TextBox 42"/>
          <p:cNvSpPr/>
          <p:nvPr/>
        </p:nvSpPr>
        <p:spPr>
          <a:xfrm>
            <a:off x="7882200" y="4948200"/>
            <a:ext cx="9237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trike="noStrike" u="none">
                <a:solidFill>
                  <a:srgbClr val="1e1e24"/>
                </a:solidFill>
                <a:uFillTx/>
                <a:latin typeface="Outfit"/>
              </a:rPr>
              <a:t>Tailgating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Box 43"/>
          <p:cNvSpPr/>
          <p:nvPr/>
        </p:nvSpPr>
        <p:spPr>
          <a:xfrm>
            <a:off x="6524640" y="5291280"/>
            <a:ext cx="28677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b="0" lang="en-US" sz="1130" strike="noStrike" u="none">
                <a:solidFill>
                  <a:srgbClr val="6b6b7b"/>
                </a:solidFill>
                <a:uFillTx/>
                <a:latin typeface="Inter"/>
              </a:rPr>
              <a:t>Unauthorized physical entry by following authorized staff.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1"/>
          <p:cNvSpPr/>
          <p:nvPr/>
        </p:nvSpPr>
        <p:spPr>
          <a:xfrm>
            <a:off x="609480" y="609480"/>
            <a:ext cx="10972440" cy="275760"/>
          </a:xfrm>
          <a:prstGeom prst="roundRect">
            <a:avLst>
              <a:gd name="adj" fmla="val 13793"/>
            </a:avLst>
          </a:prstGeom>
          <a:solidFill>
            <a:srgbClr val="f0e4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723960" y="666720"/>
            <a:ext cx="108392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9d4edd"/>
                </a:solidFill>
                <a:uFillTx/>
                <a:latin typeface="Inter"/>
              </a:rPr>
              <a:t>KILL CHAIN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2916000" y="1038240"/>
            <a:ext cx="69685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e1e24"/>
                </a:solidFill>
                <a:uFillTx/>
                <a:latin typeface="Outfit"/>
              </a:rPr>
              <a:t>Anatomy of a Social Engineering Attack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Rectangle 4"/>
          <p:cNvSpPr/>
          <p:nvPr/>
        </p:nvSpPr>
        <p:spPr>
          <a:xfrm>
            <a:off x="1371600" y="4172040"/>
            <a:ext cx="9448560" cy="2808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6560" bIns="-165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9" name="Rounded Rectangle 5"/>
          <p:cNvSpPr/>
          <p:nvPr/>
        </p:nvSpPr>
        <p:spPr>
          <a:xfrm>
            <a:off x="1657440" y="3476520"/>
            <a:ext cx="609120" cy="609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9d4edd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0" name="Rounded Rectangle 6"/>
          <p:cNvSpPr/>
          <p:nvPr/>
        </p:nvSpPr>
        <p:spPr>
          <a:xfrm>
            <a:off x="4413240" y="3476520"/>
            <a:ext cx="609120" cy="609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f5722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1" name="Rounded Rectangle 7"/>
          <p:cNvSpPr/>
          <p:nvPr/>
        </p:nvSpPr>
        <p:spPr>
          <a:xfrm>
            <a:off x="7169040" y="3476520"/>
            <a:ext cx="609120" cy="609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0b359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2" name="Rounded Rectangle 8"/>
          <p:cNvSpPr/>
          <p:nvPr/>
        </p:nvSpPr>
        <p:spPr>
          <a:xfrm>
            <a:off x="9924840" y="3476520"/>
            <a:ext cx="609120" cy="609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e1e24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1514520" y="3643560"/>
            <a:ext cx="8949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9d4edd"/>
                </a:solidFill>
                <a:uFillTx/>
                <a:latin typeface="Outfit"/>
              </a:rPr>
              <a:t>1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1612080" y="4276800"/>
            <a:ext cx="699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e1e24"/>
                </a:solidFill>
                <a:uFillTx/>
                <a:latin typeface="Times New Roman"/>
              </a:rPr>
              <a:t>Research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652320" y="4572000"/>
            <a:ext cx="261900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b6b7b"/>
                </a:solidFill>
                <a:uFillTx/>
                <a:latin typeface="Inter"/>
              </a:rPr>
              <a:t>Attacker gathers intelligence on the target victim.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Box 12"/>
          <p:cNvSpPr/>
          <p:nvPr/>
        </p:nvSpPr>
        <p:spPr>
          <a:xfrm>
            <a:off x="4270320" y="3643560"/>
            <a:ext cx="8949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5722"/>
                </a:solidFill>
                <a:uFillTx/>
                <a:latin typeface="Outfit"/>
              </a:rPr>
              <a:t>2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4333680" y="4276800"/>
            <a:ext cx="76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e1e24"/>
                </a:solidFill>
                <a:uFillTx/>
                <a:latin typeface="Times New Roman"/>
              </a:rPr>
              <a:t>The Hook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3408480" y="4572000"/>
            <a:ext cx="261900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b6b7b"/>
                </a:solidFill>
                <a:uFillTx/>
                <a:latin typeface="Inter"/>
              </a:rPr>
              <a:t>Victim is engaged via deceptive pretext or urgency.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Box 15"/>
          <p:cNvSpPr/>
          <p:nvPr/>
        </p:nvSpPr>
        <p:spPr>
          <a:xfrm>
            <a:off x="7026120" y="3643560"/>
            <a:ext cx="8949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f172a"/>
                </a:solidFill>
                <a:uFillTx/>
                <a:latin typeface="Outfit"/>
              </a:rPr>
              <a:t>3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Box 16"/>
          <p:cNvSpPr/>
          <p:nvPr/>
        </p:nvSpPr>
        <p:spPr>
          <a:xfrm>
            <a:off x="7131960" y="4276800"/>
            <a:ext cx="68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e1e24"/>
                </a:solidFill>
                <a:uFillTx/>
                <a:latin typeface="Times New Roman"/>
              </a:rPr>
              <a:t>The Play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Box 17"/>
          <p:cNvSpPr/>
          <p:nvPr/>
        </p:nvSpPr>
        <p:spPr>
          <a:xfrm>
            <a:off x="6164280" y="4572000"/>
            <a:ext cx="261900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b6b7b"/>
                </a:solidFill>
                <a:uFillTx/>
                <a:latin typeface="Inter"/>
              </a:rPr>
              <a:t>Victim clicks a link or hands over credentials.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Box 18"/>
          <p:cNvSpPr/>
          <p:nvPr/>
        </p:nvSpPr>
        <p:spPr>
          <a:xfrm>
            <a:off x="9781920" y="3643560"/>
            <a:ext cx="8949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1e24"/>
                </a:solidFill>
                <a:uFillTx/>
                <a:latin typeface="Outfit"/>
              </a:rPr>
              <a:t>4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Box 19"/>
          <p:cNvSpPr/>
          <p:nvPr/>
        </p:nvSpPr>
        <p:spPr>
          <a:xfrm>
            <a:off x="9898560" y="4276800"/>
            <a:ext cx="662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e1e24"/>
                </a:solidFill>
                <a:uFillTx/>
                <a:latin typeface="Times New Roman"/>
              </a:rPr>
              <a:t>The Exit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TextBox 20"/>
          <p:cNvSpPr/>
          <p:nvPr/>
        </p:nvSpPr>
        <p:spPr>
          <a:xfrm>
            <a:off x="8920080" y="4572000"/>
            <a:ext cx="261900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6b6b7b"/>
                </a:solidFill>
                <a:uFillTx/>
                <a:latin typeface="Inter"/>
              </a:rPr>
              <a:t>Data is stolen and attacker covers their tracks.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ounded Rectangle 1"/>
          <p:cNvSpPr/>
          <p:nvPr/>
        </p:nvSpPr>
        <p:spPr>
          <a:xfrm>
            <a:off x="609480" y="609480"/>
            <a:ext cx="10972440" cy="275760"/>
          </a:xfrm>
          <a:prstGeom prst="roundRect">
            <a:avLst>
              <a:gd name="adj" fmla="val 13793"/>
            </a:avLst>
          </a:prstGeom>
          <a:solidFill>
            <a:srgbClr val="eadff6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6" name="Rounded Rectangle 2"/>
          <p:cNvSpPr/>
          <p:nvPr/>
        </p:nvSpPr>
        <p:spPr>
          <a:xfrm>
            <a:off x="609480" y="1895400"/>
            <a:ext cx="3454200" cy="43524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7" name="Rounded Rectangle 3"/>
          <p:cNvSpPr/>
          <p:nvPr/>
        </p:nvSpPr>
        <p:spPr>
          <a:xfrm>
            <a:off x="4368960" y="1895400"/>
            <a:ext cx="3454200" cy="43524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8128080" y="1895400"/>
            <a:ext cx="3454200" cy="43524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9" name="Rectangle 5"/>
          <p:cNvSpPr/>
          <p:nvPr/>
        </p:nvSpPr>
        <p:spPr>
          <a:xfrm>
            <a:off x="609480" y="1895400"/>
            <a:ext cx="56880" cy="4352400"/>
          </a:xfrm>
          <a:prstGeom prst="rect">
            <a:avLst/>
          </a:prstGeom>
          <a:solidFill>
            <a:srgbClr val="9d4edd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0" name="Rectangle 6"/>
          <p:cNvSpPr/>
          <p:nvPr/>
        </p:nvSpPr>
        <p:spPr>
          <a:xfrm>
            <a:off x="4368960" y="1895400"/>
            <a:ext cx="56880" cy="435240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1" name="Rectangle 7"/>
          <p:cNvSpPr/>
          <p:nvPr/>
        </p:nvSpPr>
        <p:spPr>
          <a:xfrm>
            <a:off x="8128080" y="1895400"/>
            <a:ext cx="56880" cy="4352400"/>
          </a:xfrm>
          <a:prstGeom prst="rect">
            <a:avLst/>
          </a:prstGeom>
          <a:solidFill>
            <a:srgbClr val="00b359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723960" y="666720"/>
            <a:ext cx="108392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9d4edd"/>
                </a:solidFill>
                <a:uFillTx/>
                <a:latin typeface="Inter"/>
              </a:rPr>
              <a:t>CASE STUDIES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3539880" y="1038240"/>
            <a:ext cx="57207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e1e24"/>
                </a:solidFill>
                <a:uFillTx/>
                <a:latin typeface="Outfit"/>
              </a:rPr>
              <a:t>Major Real-World Data Breaches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2561040" y="2276640"/>
            <a:ext cx="2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9d4edd"/>
                </a:solidFill>
                <a:uFillTx/>
                <a:latin typeface="Times New Roman"/>
              </a:rPr>
              <a:t>2020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2365200" y="2505240"/>
            <a:ext cx="8229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1e1e24"/>
                </a:solidFill>
                <a:uFillTx/>
                <a:latin typeface="Outfit"/>
              </a:rPr>
              <a:t>Twitter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6320520" y="2276640"/>
            <a:ext cx="2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ff5722"/>
                </a:solidFill>
                <a:uFillTx/>
                <a:latin typeface="Times New Roman"/>
              </a:rPr>
              <a:t>2013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5720040" y="2505240"/>
            <a:ext cx="1632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1e1e24"/>
                </a:solidFill>
                <a:uFillTx/>
                <a:latin typeface="Outfit"/>
              </a:rPr>
              <a:t>Target Stores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10079640" y="2276640"/>
            <a:ext cx="2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0f172a"/>
                </a:solidFill>
                <a:uFillTx/>
                <a:latin typeface="Times New Roman"/>
              </a:rPr>
              <a:t>2022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Box 15"/>
          <p:cNvSpPr/>
          <p:nvPr/>
        </p:nvSpPr>
        <p:spPr>
          <a:xfrm>
            <a:off x="10000440" y="2505240"/>
            <a:ext cx="5900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1e1e24"/>
                </a:solidFill>
                <a:uFillTx/>
                <a:latin typeface="Outfit"/>
              </a:rPr>
              <a:t>Uber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Box 16"/>
          <p:cNvSpPr/>
          <p:nvPr/>
        </p:nvSpPr>
        <p:spPr>
          <a:xfrm>
            <a:off x="1047600" y="3067200"/>
            <a:ext cx="2730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1e24"/>
                </a:solidFill>
                <a:uFillTx/>
                <a:latin typeface="Inter"/>
              </a:rPr>
              <a:t>Vector:</a:t>
            </a:r>
            <a:r>
              <a:rPr b="0" lang="en-US" sz="1200" strike="noStrike" u="none">
                <a:solidFill>
                  <a:srgbClr val="4a4a5a"/>
                </a:solidFill>
                <a:uFillTx/>
                <a:latin typeface="Inter"/>
              </a:rPr>
              <a:t> Phone spear-phishing employees.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TextBox 17"/>
          <p:cNvSpPr/>
          <p:nvPr/>
        </p:nvSpPr>
        <p:spPr>
          <a:xfrm>
            <a:off x="1047600" y="3600360"/>
            <a:ext cx="2730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1e24"/>
                </a:solidFill>
                <a:uFillTx/>
                <a:latin typeface="Inter"/>
              </a:rPr>
              <a:t>Impact:</a:t>
            </a:r>
            <a:r>
              <a:rPr b="0" lang="en-US" sz="1200" strike="noStrike" u="none">
                <a:solidFill>
                  <a:srgbClr val="4a4a5a"/>
                </a:solidFill>
                <a:uFillTx/>
                <a:latin typeface="Inter"/>
              </a:rPr>
              <a:t> High-profile VIP accounts hijacked.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TextBox 18"/>
          <p:cNvSpPr/>
          <p:nvPr/>
        </p:nvSpPr>
        <p:spPr>
          <a:xfrm>
            <a:off x="1047600" y="4133880"/>
            <a:ext cx="2730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1e24"/>
                </a:solidFill>
                <a:uFillTx/>
                <a:latin typeface="Inter"/>
              </a:rPr>
              <a:t>Result:</a:t>
            </a:r>
            <a:r>
              <a:rPr b="0" lang="en-US" sz="1200" strike="noStrike" u="none">
                <a:solidFill>
                  <a:srgbClr val="4a4a5a"/>
                </a:solidFill>
                <a:uFillTx/>
                <a:latin typeface="Inter"/>
              </a:rPr>
              <a:t> Massive cryptocurrency scam.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Box 19"/>
          <p:cNvSpPr/>
          <p:nvPr/>
        </p:nvSpPr>
        <p:spPr>
          <a:xfrm>
            <a:off x="4807080" y="3067200"/>
            <a:ext cx="2730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1e24"/>
                </a:solidFill>
                <a:uFillTx/>
                <a:latin typeface="Inter"/>
              </a:rPr>
              <a:t>Vector:</a:t>
            </a:r>
            <a:r>
              <a:rPr b="0" lang="en-US" sz="1200" strike="noStrike" u="none">
                <a:solidFill>
                  <a:srgbClr val="4a4a5a"/>
                </a:solidFill>
                <a:uFillTx/>
                <a:latin typeface="Inter"/>
              </a:rPr>
              <a:t> Phishing an external HVAC vendor.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20"/>
          <p:cNvSpPr/>
          <p:nvPr/>
        </p:nvSpPr>
        <p:spPr>
          <a:xfrm>
            <a:off x="4807080" y="3600360"/>
            <a:ext cx="2730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1e24"/>
                </a:solidFill>
                <a:uFillTx/>
                <a:latin typeface="Inter"/>
              </a:rPr>
              <a:t>Impact:</a:t>
            </a:r>
            <a:r>
              <a:rPr b="0" lang="en-US" sz="1200" strike="noStrike" u="none">
                <a:solidFill>
                  <a:srgbClr val="4a4a5a"/>
                </a:solidFill>
                <a:uFillTx/>
                <a:latin typeface="Inter"/>
              </a:rPr>
              <a:t> Network accessed laterally via vendor.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Box 21"/>
          <p:cNvSpPr/>
          <p:nvPr/>
        </p:nvSpPr>
        <p:spPr>
          <a:xfrm>
            <a:off x="4807080" y="4133880"/>
            <a:ext cx="2730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1e24"/>
                </a:solidFill>
                <a:uFillTx/>
                <a:latin typeface="Inter"/>
              </a:rPr>
              <a:t>Result:</a:t>
            </a:r>
            <a:r>
              <a:rPr b="0" lang="en-US" sz="1200" strike="noStrike" u="none">
                <a:solidFill>
                  <a:srgbClr val="4a4a5a"/>
                </a:solidFill>
                <a:uFillTx/>
                <a:latin typeface="Inter"/>
              </a:rPr>
              <a:t> 40 million payment cards stolen.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Box 22"/>
          <p:cNvSpPr/>
          <p:nvPr/>
        </p:nvSpPr>
        <p:spPr>
          <a:xfrm>
            <a:off x="8566200" y="3067200"/>
            <a:ext cx="2730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1e24"/>
                </a:solidFill>
                <a:uFillTx/>
                <a:latin typeface="Inter"/>
              </a:rPr>
              <a:t>Vector:</a:t>
            </a:r>
            <a:r>
              <a:rPr b="0" lang="en-US" sz="1200" strike="noStrike" u="none">
                <a:solidFill>
                  <a:srgbClr val="4a4a5a"/>
                </a:solidFill>
                <a:uFillTx/>
                <a:latin typeface="Inter"/>
              </a:rPr>
              <a:t> MFA fatigue and WhatsApp pretexting.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23"/>
          <p:cNvSpPr/>
          <p:nvPr/>
        </p:nvSpPr>
        <p:spPr>
          <a:xfrm>
            <a:off x="8566200" y="3600360"/>
            <a:ext cx="2730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1e24"/>
                </a:solidFill>
                <a:uFillTx/>
                <a:latin typeface="Inter"/>
              </a:rPr>
              <a:t>Impact:</a:t>
            </a:r>
            <a:r>
              <a:rPr b="0" lang="en-US" sz="1200" strike="noStrike" u="none">
                <a:solidFill>
                  <a:srgbClr val="4a4a5a"/>
                </a:solidFill>
                <a:uFillTx/>
                <a:latin typeface="Inter"/>
              </a:rPr>
              <a:t> Deep infrastructure compromise.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TextBox 24"/>
          <p:cNvSpPr/>
          <p:nvPr/>
        </p:nvSpPr>
        <p:spPr>
          <a:xfrm>
            <a:off x="8566200" y="4133880"/>
            <a:ext cx="27302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1e24"/>
                </a:solidFill>
                <a:uFillTx/>
                <a:latin typeface="Inter"/>
              </a:rPr>
              <a:t>Result:</a:t>
            </a:r>
            <a:r>
              <a:rPr b="0" lang="en-US" sz="1200" strike="noStrike" u="none">
                <a:solidFill>
                  <a:srgbClr val="4a4a5a"/>
                </a:solidFill>
                <a:uFillTx/>
                <a:latin typeface="Inter"/>
              </a:rPr>
              <a:t> Internal databases and source code exposed.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ounded Rectangle 1"/>
          <p:cNvSpPr/>
          <p:nvPr/>
        </p:nvSpPr>
        <p:spPr>
          <a:xfrm>
            <a:off x="609480" y="1591560"/>
            <a:ext cx="1695240" cy="275760"/>
          </a:xfrm>
          <a:prstGeom prst="roundRect">
            <a:avLst>
              <a:gd name="adj" fmla="val 13793"/>
            </a:avLst>
          </a:prstGeom>
          <a:solidFill>
            <a:srgbClr val="f0e4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30" name="Picture 2" descr="image.png"/>
          <p:cNvPicPr/>
          <p:nvPr/>
        </p:nvPicPr>
        <p:blipFill>
          <a:blip r:embed="rId1"/>
          <a:stretch/>
        </p:blipFill>
        <p:spPr>
          <a:xfrm>
            <a:off x="7124760" y="152388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3" descr="image.png"/>
          <p:cNvPicPr/>
          <p:nvPr/>
        </p:nvPicPr>
        <p:blipFill>
          <a:blip r:embed="rId2"/>
          <a:stretch/>
        </p:blipFill>
        <p:spPr>
          <a:xfrm>
            <a:off x="8267760" y="2666880"/>
            <a:ext cx="1523520" cy="152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4" descr="image.png"/>
          <p:cNvPicPr/>
          <p:nvPr/>
        </p:nvPicPr>
        <p:blipFill>
          <a:blip r:embed="rId3"/>
          <a:stretch/>
        </p:blipFill>
        <p:spPr>
          <a:xfrm>
            <a:off x="609480" y="368028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Picture 5" descr="image.png"/>
          <p:cNvPicPr/>
          <p:nvPr/>
        </p:nvPicPr>
        <p:blipFill>
          <a:blip r:embed="rId4"/>
          <a:stretch/>
        </p:blipFill>
        <p:spPr>
          <a:xfrm>
            <a:off x="609480" y="4137480"/>
            <a:ext cx="2376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Picture 6" descr="image.png"/>
          <p:cNvPicPr/>
          <p:nvPr/>
        </p:nvPicPr>
        <p:blipFill>
          <a:blip r:embed="rId5"/>
          <a:stretch/>
        </p:blipFill>
        <p:spPr>
          <a:xfrm>
            <a:off x="609480" y="4594680"/>
            <a:ext cx="2376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7" descr="image.png"/>
          <p:cNvPicPr/>
          <p:nvPr/>
        </p:nvPicPr>
        <p:blipFill>
          <a:blip r:embed="rId6"/>
          <a:stretch/>
        </p:blipFill>
        <p:spPr>
          <a:xfrm>
            <a:off x="609480" y="505188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Box 8"/>
          <p:cNvSpPr/>
          <p:nvPr/>
        </p:nvSpPr>
        <p:spPr>
          <a:xfrm>
            <a:off x="723960" y="1648800"/>
            <a:ext cx="1561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9d4edd"/>
                </a:solidFill>
                <a:uFillTx/>
                <a:latin typeface="Inter"/>
              </a:rPr>
              <a:t>HUMAN FIREWALL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1705680" y="2020320"/>
            <a:ext cx="4507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ts val="3960"/>
              </a:lnSpc>
            </a:pPr>
            <a:r>
              <a:rPr b="1" lang="en-US" sz="3600" strike="noStrike" u="none">
                <a:solidFill>
                  <a:srgbClr val="1e1e24"/>
                </a:solidFill>
                <a:uFillTx/>
                <a:latin typeface="Outfit"/>
              </a:rPr>
              <a:t>Prevention Strategies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609480" y="2827800"/>
            <a:ext cx="520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4a4a5a"/>
                </a:solidFill>
                <a:uFillTx/>
                <a:latin typeface="Inter"/>
              </a:rPr>
              <a:t>Building a resilient defense by combining technology with human awareness.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2061360" y="3666240"/>
            <a:ext cx="385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9d4edd"/>
                </a:solidFill>
                <a:uFillTx/>
                <a:latin typeface="Inter"/>
              </a:rPr>
              <a:t>Enforce Multi-Factor Authentication globally.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2402280" y="4123440"/>
            <a:ext cx="317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5722"/>
                </a:solidFill>
                <a:uFillTx/>
                <a:latin typeface="Inter"/>
              </a:rPr>
              <a:t>Verify unusual requests out-of-band.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TextBox 13"/>
          <p:cNvSpPr/>
          <p:nvPr/>
        </p:nvSpPr>
        <p:spPr>
          <a:xfrm>
            <a:off x="2334240" y="4580640"/>
            <a:ext cx="331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0f172a"/>
                </a:solidFill>
                <a:uFillTx/>
                <a:latin typeface="Inter"/>
              </a:rPr>
              <a:t>Conduct regular phishing simulations.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2307240" y="5037840"/>
            <a:ext cx="3367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9d4edd"/>
                </a:solidFill>
                <a:uFillTx/>
                <a:latin typeface="Inter"/>
              </a:rPr>
              <a:t>Block unauthorized physical tailgating.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ounded Rectangle 1"/>
          <p:cNvSpPr/>
          <p:nvPr/>
        </p:nvSpPr>
        <p:spPr>
          <a:xfrm>
            <a:off x="609480" y="609480"/>
            <a:ext cx="10972440" cy="275760"/>
          </a:xfrm>
          <a:prstGeom prst="roundRect">
            <a:avLst>
              <a:gd name="adj" fmla="val 13793"/>
            </a:avLst>
          </a:prstGeom>
          <a:solidFill>
            <a:srgbClr val="eadff6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4" name="Rounded Rectangle 2"/>
          <p:cNvSpPr/>
          <p:nvPr/>
        </p:nvSpPr>
        <p:spPr>
          <a:xfrm>
            <a:off x="609480" y="1971720"/>
            <a:ext cx="5181120" cy="4276440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5" name="Rounded Rectangle 3"/>
          <p:cNvSpPr/>
          <p:nvPr/>
        </p:nvSpPr>
        <p:spPr>
          <a:xfrm>
            <a:off x="6400800" y="1971720"/>
            <a:ext cx="5181120" cy="4276440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6" name="Rectangle 4"/>
          <p:cNvSpPr/>
          <p:nvPr/>
        </p:nvSpPr>
        <p:spPr>
          <a:xfrm>
            <a:off x="609480" y="1971720"/>
            <a:ext cx="5181120" cy="75960"/>
          </a:xfrm>
          <a:prstGeom prst="rect">
            <a:avLst/>
          </a:prstGeom>
          <a:solidFill>
            <a:srgbClr val="00b359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7" name="Rectangle 5"/>
          <p:cNvSpPr/>
          <p:nvPr/>
        </p:nvSpPr>
        <p:spPr>
          <a:xfrm>
            <a:off x="6400800" y="1971720"/>
            <a:ext cx="5181120" cy="7596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48" name="Picture 6" descr="image.png"/>
          <p:cNvPicPr/>
          <p:nvPr/>
        </p:nvPicPr>
        <p:blipFill>
          <a:blip r:embed="rId1"/>
          <a:stretch/>
        </p:blipFill>
        <p:spPr>
          <a:xfrm>
            <a:off x="1066680" y="25430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7" descr="image.png"/>
          <p:cNvPicPr/>
          <p:nvPr/>
        </p:nvPicPr>
        <p:blipFill>
          <a:blip r:embed="rId2"/>
          <a:stretch/>
        </p:blipFill>
        <p:spPr>
          <a:xfrm>
            <a:off x="6858000" y="25430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8"/>
          <p:cNvSpPr/>
          <p:nvPr/>
        </p:nvSpPr>
        <p:spPr>
          <a:xfrm>
            <a:off x="723960" y="666720"/>
            <a:ext cx="108392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9d4edd"/>
                </a:solidFill>
                <a:uFillTx/>
                <a:latin typeface="Inter"/>
              </a:rPr>
              <a:t>OPERATIONAL SECURITY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TextBox 9"/>
          <p:cNvSpPr/>
          <p:nvPr/>
        </p:nvSpPr>
        <p:spPr>
          <a:xfrm>
            <a:off x="3860640" y="1038240"/>
            <a:ext cx="44704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e1e24"/>
                </a:solidFill>
                <a:uFillTx/>
                <a:latin typeface="Outfit"/>
              </a:rPr>
              <a:t>Essential Do's and Don'ts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3854880" y="2512080"/>
            <a:ext cx="4582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0f172a"/>
                </a:solidFill>
                <a:uFillTx/>
                <a:latin typeface="Outfit"/>
              </a:rPr>
              <a:t>DO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9289080" y="2512080"/>
            <a:ext cx="9284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f5722"/>
                </a:solidFill>
                <a:uFillTx/>
                <a:latin typeface="Outfit"/>
              </a:rPr>
              <a:t>DON'T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TextBox 12"/>
          <p:cNvSpPr/>
          <p:nvPr/>
        </p:nvSpPr>
        <p:spPr>
          <a:xfrm>
            <a:off x="2139840" y="3191040"/>
            <a:ext cx="318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e1e24"/>
                </a:solidFill>
                <a:uFillTx/>
                <a:latin typeface="Inter"/>
              </a:rPr>
              <a:t>Verify sender identities meticulously.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Box 13"/>
          <p:cNvSpPr/>
          <p:nvPr/>
        </p:nvSpPr>
        <p:spPr>
          <a:xfrm>
            <a:off x="2054160" y="3648240"/>
            <a:ext cx="335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e1e24"/>
                </a:solidFill>
                <a:uFillTx/>
                <a:latin typeface="Inter"/>
              </a:rPr>
              <a:t>Hover over links to check actual URLs.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TextBox 14"/>
          <p:cNvSpPr/>
          <p:nvPr/>
        </p:nvSpPr>
        <p:spPr>
          <a:xfrm>
            <a:off x="2029320" y="4105440"/>
            <a:ext cx="340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e1e24"/>
                </a:solidFill>
                <a:uFillTx/>
                <a:latin typeface="Inter"/>
              </a:rPr>
              <a:t>Report suspicious activity immediately.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Box 15"/>
          <p:cNvSpPr/>
          <p:nvPr/>
        </p:nvSpPr>
        <p:spPr>
          <a:xfrm>
            <a:off x="1770480" y="4562640"/>
            <a:ext cx="3926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e1e24"/>
                </a:solidFill>
                <a:uFillTx/>
                <a:latin typeface="Inter"/>
              </a:rPr>
              <a:t>Challenge unknown persons in secure areas.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TextBox 16"/>
          <p:cNvSpPr/>
          <p:nvPr/>
        </p:nvSpPr>
        <p:spPr>
          <a:xfrm>
            <a:off x="7833240" y="3191040"/>
            <a:ext cx="3383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e1e24"/>
                </a:solidFill>
                <a:uFillTx/>
                <a:latin typeface="Inter"/>
              </a:rPr>
              <a:t>Provide credentials via email or phone.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TextBox 17"/>
          <p:cNvSpPr/>
          <p:nvPr/>
        </p:nvSpPr>
        <p:spPr>
          <a:xfrm>
            <a:off x="7903800" y="3648240"/>
            <a:ext cx="3241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e1e24"/>
                </a:solidFill>
                <a:uFillTx/>
                <a:latin typeface="Inter"/>
              </a:rPr>
              <a:t>Open unexpected email attachments.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TextBox 18"/>
          <p:cNvSpPr/>
          <p:nvPr/>
        </p:nvSpPr>
        <p:spPr>
          <a:xfrm>
            <a:off x="7804080" y="4105440"/>
            <a:ext cx="344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e1e24"/>
                </a:solidFill>
                <a:uFillTx/>
                <a:latin typeface="Inter"/>
              </a:rPr>
              <a:t>Connect found USB drives to networks.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TextBox 19"/>
          <p:cNvSpPr/>
          <p:nvPr/>
        </p:nvSpPr>
        <p:spPr>
          <a:xfrm>
            <a:off x="7701120" y="4562640"/>
            <a:ext cx="364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e1e24"/>
                </a:solidFill>
                <a:uFillTx/>
                <a:latin typeface="Inter"/>
              </a:rPr>
              <a:t>Bypass security controls for convenience.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7905600" y="-1428840"/>
            <a:ext cx="5714640" cy="5714640"/>
          </a:xfrm>
          <a:prstGeom prst="rect">
            <a:avLst/>
          </a:prstGeom>
          <a:solidFill>
            <a:srgbClr val="2f222d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63" name="Picture 2" descr="image.png"/>
          <p:cNvPicPr/>
          <p:nvPr/>
        </p:nvPicPr>
        <p:blipFill>
          <a:blip r:embed="rId1"/>
          <a:stretch/>
        </p:blipFill>
        <p:spPr>
          <a:xfrm>
            <a:off x="5715000" y="20185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Box 3"/>
          <p:cNvSpPr/>
          <p:nvPr/>
        </p:nvSpPr>
        <p:spPr>
          <a:xfrm>
            <a:off x="1095480" y="3161520"/>
            <a:ext cx="10000800" cy="5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4620"/>
              </a:lnSpc>
            </a:pPr>
            <a:r>
              <a:rPr b="1" lang="en-US" sz="4200" strike="noStrike" u="none">
                <a:solidFill>
                  <a:srgbClr val="ffffff"/>
                </a:solidFill>
                <a:uFillTx/>
                <a:latin typeface="Outfit"/>
              </a:rPr>
              <a:t>You Are the First Line of </a:t>
            </a:r>
            <a:r>
              <a:rPr b="1" lang="en-US" sz="4200" strike="noStrike" u="none">
                <a:solidFill>
                  <a:srgbClr val="9d4edd"/>
                </a:solidFill>
                <a:uFillTx/>
                <a:latin typeface="Outfit"/>
              </a:rPr>
              <a:t>Defense.</a:t>
            </a:r>
            <a:endParaRPr b="0" lang="en-US" sz="4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5" name="TextBox 4"/>
          <p:cNvSpPr/>
          <p:nvPr/>
        </p:nvSpPr>
        <p:spPr>
          <a:xfrm>
            <a:off x="4190760" y="4563360"/>
            <a:ext cx="3810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b3c0d1"/>
                </a:solidFill>
                <a:uFillTx/>
                <a:latin typeface="Inter"/>
              </a:rPr>
              <a:t>Thank you. Questions &amp; Discussion.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" descr="image.png"/>
          <p:cNvPicPr/>
          <p:nvPr/>
        </p:nvPicPr>
        <p:blipFill>
          <a:blip r:embed="rId1"/>
          <a:stretch/>
        </p:blipFill>
        <p:spPr>
          <a:xfrm>
            <a:off x="571680" y="100008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Box 2"/>
          <p:cNvSpPr/>
          <p:nvPr/>
        </p:nvSpPr>
        <p:spPr>
          <a:xfrm>
            <a:off x="784800" y="571680"/>
            <a:ext cx="1573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8fafc"/>
                </a:solidFill>
                <a:uFillTx/>
                <a:latin typeface="Outfit"/>
              </a:rPr>
              <a:t>Image Sources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2373840" y="1042920"/>
            <a:ext cx="91105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80" strike="noStrike" u="none">
                <a:solidFill>
                  <a:srgbClr val="f8fafc"/>
                </a:solidFill>
                <a:uFillTx/>
                <a:latin typeface="Inter"/>
              </a:rPr>
              <a:t>https://img.magnific.com/free-vector/cyber-security-protection-banner-with-digital-shield-lock-futuristic-interface_120329-7689.jpg?semt=ais_hybrid&amp;w=740&amp;q=80</a:t>
            </a:r>
            <a:endParaRPr b="0" lang="en-US" sz="98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1964160" y="1243080"/>
            <a:ext cx="18928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8fafc"/>
                </a:solidFill>
                <a:uFillTx/>
                <a:latin typeface="Inter"/>
              </a:rPr>
              <a:t>Source: </a:t>
            </a:r>
            <a:r>
              <a:rPr b="0" lang="en-US" sz="1200" strike="noStrike" u="none">
                <a:solidFill>
                  <a:srgbClr val="4f46e5"/>
                </a:solidFill>
                <a:uFillTx/>
                <a:latin typeface="Inter"/>
              </a:rPr>
              <a:t>www.magnific.com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LibreOfficeDev/24.8.7.2.0$Android_AARCH64 LibreOffice_project/</Application>
  <AppVersion>15.0000</AppVersion>
  <Words>403</Words>
  <Paragraphs>89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AYUSH</dc:creator>
  <dc:description>generated using python-pptx</dc:description>
  <dc:language>en-US</dc:language>
  <cp:lastModifiedBy/>
  <dcterms:modified xsi:type="dcterms:W3CDTF">2026-10-30T19:47:19Z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9</vt:r8>
  </property>
</Properties>
</file>